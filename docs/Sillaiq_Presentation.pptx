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914400"/>
            <a:ext cx="2743200" cy="274320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2895" y="0"/>
            <a:ext cx="1463040" cy="14630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754880"/>
            <a:ext cx="2377440" cy="237744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000" b="1">
                <a:solidFill>
                  <a:srgbClr val="E0A458"/>
                </a:solidFill>
                <a:latin typeface="Segoe UI"/>
              </a:rPr>
              <a:t>صِـلَة دوائي  |  Silla Al-Dawai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الاستراتيجية التسويقية الشاملة</a:t>
            </a:r>
          </a:p>
          <a:p>
            <a:pPr algn="r" rtl="1" bidi="1">
              <a:lnSpc>
                <a:spcPct val="100000"/>
              </a:lnSpc>
              <a:spcBef>
                <a:spcPts val="1000"/>
              </a:spcBef>
            </a:pPr>
            <a:r>
              <a:rPr sz="2400" b="0">
                <a:solidFill>
                  <a:srgbClr val="C8E0DF"/>
                </a:solidFill>
                <a:latin typeface="Segoe UI"/>
              </a:rPr>
              <a:t>منصّة الرعاية الصيدلانية الرقمية في العراق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34840"/>
            <a:ext cx="2377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أونلاين  •  أوفلاين  •  السوق العراقي  •  النمو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9FB7C7"/>
                </a:solidFill>
                <a:latin typeface="Segoe UI"/>
              </a:rPr>
              <a:t>دواؤك… يصلك من صيدلية مرخّصة قريبة منك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خطة العرض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لماذا صِلَة؟ الرؤية والمشكلة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السوق العراقي — أرقام تحسم القرار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157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المشكلة الكبرى: فوضى الأدوية غير الموثوقة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729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004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تموضع صِلَة وموقع التمايز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01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57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الجماهير المستهدفة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873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نموذج النموّ (الـ Flywheel)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445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720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الأونلاين — أفكار إبداعية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017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29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الأوفلاين — أفكار إبداعية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406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589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4864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الميزانية والخارطة والمؤشّرات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9788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1616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١٠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المخاطر والامتثال — والبدء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الرؤية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لماذا صِلَة؟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0E7C7B"/>
                </a:solidFill>
                <a:latin typeface="Segoe UI"/>
              </a:rPr>
              <a:t>الرؤية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نبني البنية التحتية الرقمية التي تجعل الدواء يصل إلى كل بيت في العراق — بثقة، وشفافية، وكرامة.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4864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486400" cy="12801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E0A458"/>
                </a:solidFill>
                <a:latin typeface="Segoe UI"/>
              </a:rPr>
              <a:t>المشكلة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4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الدواء في العراق يُباع اليوم عبر صفحات تواصل غير موثوقة، بلا ترخيص ولا رقابة. </a:t>
            </a:r>
            <a:r>
              <a:rPr sz="1600" b="1">
                <a:solidFill>
                  <a:srgbClr val="0B2545"/>
                </a:solidFill>
                <a:latin typeface="Segoe UI"/>
              </a:rPr>
              <a:t>صحة المريض في خطر.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السوق العراقي — أرقام تحسم القرار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84048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384048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783080"/>
            <a:ext cx="329184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المؤشّر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القيمة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الدلالة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331720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331720"/>
            <a:ext cx="3291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3682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السكان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6829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46.5 مليون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682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72% في المدن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62072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2862072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2862072"/>
            <a:ext cx="329184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8986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مستخدمو الإنترنت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986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38.0 مليون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81.7% من السكان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92424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392424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3392424"/>
            <a:ext cx="3291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29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هويّات التواصل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290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34.3 مليون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290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73.8% من السكان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22776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3922776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3922776"/>
            <a:ext cx="329184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959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تيك توك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95935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~90% من مستخدمي الإنترنت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9593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الأوسع انتشاراً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53128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4453128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4453128"/>
            <a:ext cx="3291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48970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فيسبوك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48970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~20.1 مليون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4897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75% من البالغين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983480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0560" y="4983480"/>
            <a:ext cx="38404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4983480"/>
            <a:ext cx="329184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0200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إنستغرام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02005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~19.0 مليون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0200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69% من البالغين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513832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5513832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12480" y="5513832"/>
            <a:ext cx="3291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55040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العمر الوسيط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5504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20.8 سنة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5504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سوق شابّ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فرصة خفيّة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المشكلة الكبرى: فوضى الأدوية غير الموثوقة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نقابة صيادلة العراق تُحذّر رسمياً من شراء الأدوية عبر صفحات التواصل الاجتماعي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6424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651760"/>
            <a:ext cx="228600" cy="2286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3347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الأدوية المسجّلة لا يجوز بيعها إلكترونياً خارج صيدلية مرخّصة، وتحتاج نصيحة صيدلي وتوضيح محاذير الاستعمال.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57600"/>
            <a:ext cx="228600" cy="2286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تنتشر حسابات وهمية على فيسبوك تنتحل صفة أطباء عراقيين، وتبيع علاجات وهمية ومنتهية الصلاحية وخلطات عشبية.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3440"/>
            <a:ext cx="228600" cy="2286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المصدر الشرعي الوحيد للدواء بحكم التعريف هو الصيدلية المرخّصة الخاضعة للرقابة.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⬅️ </a:t>
            </a:r>
            <a:r>
              <a:rPr sz="1700" b="0">
                <a:solidFill>
                  <a:srgbClr val="FFFFFF"/>
                </a:solidFill>
                <a:latin typeface="Segoe UI"/>
              </a:rPr>
              <a:t>موقعُ التمايز الذي لا يملكه منافس عراقي:</a:t>
            </a:r>
            <a:r>
              <a:rPr sz="1700" b="1">
                <a:solidFill>
                  <a:srgbClr val="E0A458"/>
                </a:solidFill>
                <a:latin typeface="Segoe UI"/>
              </a:rPr>
              <a:t> «صِلَة دوائي = القناة القانونية المعتمدة»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تموضع صِلَة وموقع التمايز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66160" cy="9144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الثقة المرخّصة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كل صيدلية وسائق موثّق ومُعتمَد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566160" cy="9144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التوفّر الفعلي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لا وعود — توفّرٌ حقيقي يعرض أمامك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566160" cy="9144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الدفع عند الاستلام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718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25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معاملتك بيدك حتّى الاستلام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«صِلَة ليست تطبيق توصيل، بل </a:t>
            </a:r>
            <a:r>
              <a:rPr sz="1800" b="1">
                <a:solidFill>
                  <a:srgbClr val="0E7C7B"/>
                </a:solidFill>
                <a:latin typeface="Segoe UI"/>
              </a:rPr>
              <a:t>شبكة صحية مُدارة ومرخّصة.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الجماهير المستهدفة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66160" cy="7772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المرضى (B2C)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مريض مزمن/مسنّ/مقيّد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7472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أمّ/ربّ أسرة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2336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موظف/عامل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57200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شاب رقمي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8288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828800"/>
            <a:ext cx="3566160" cy="777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الصيدليات (B2B)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2926080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8346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صيدلية مستقلة صغيرة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3474720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383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صيدلية متوسّطة/سلسلة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288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28800"/>
            <a:ext cx="3566160" cy="77724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السائقون (Gig)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292608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8346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طلبة</a:t>
            </a:r>
          </a:p>
        </p:txBody>
      </p:sp>
      <p:sp>
        <p:nvSpPr>
          <p:cNvPr id="31" name="Oval 30"/>
          <p:cNvSpPr/>
          <p:nvPr/>
        </p:nvSpPr>
        <p:spPr>
          <a:xfrm>
            <a:off x="8503920" y="347472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383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مستقلّون</a:t>
            </a:r>
          </a:p>
        </p:txBody>
      </p:sp>
      <p:sp>
        <p:nvSpPr>
          <p:cNvPr id="33" name="Oval 32"/>
          <p:cNvSpPr/>
          <p:nvPr/>
        </p:nvSpPr>
        <p:spPr>
          <a:xfrm>
            <a:off x="8503920" y="402336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أصحاب سيارات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نموذج النموّ — الـ Flywheel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توفّر عالٍ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9184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تجربة ممتازة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57200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إحالة وشفاهة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01168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945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مزيد زبائن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29184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4747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طلبات أكثر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572000"/>
            <a:ext cx="2194560" cy="9144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754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عرض أقوى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A5C5B"/>
                </a:solidFill>
                <a:latin typeface="Segoe UI"/>
              </a:rPr>
              <a:t>المبدأ: الكثافة قبل الاتّساع (Density-First) — ابتدِئ بنطاق واحد مكثّف قبل التوسّع.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1031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331720"/>
            <a:ext cx="3291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0E7C7B"/>
                </a:solidFill>
                <a:latin typeface="Segoe UI"/>
              </a:rPr>
              <a:t>لماذا يعمل؟</a:t>
            </a:r>
          </a:p>
          <a:p>
            <a:pPr algn="r" rtl="1" bidi="1">
              <a:lnSpc>
                <a:spcPct val="13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كل صيدلية وسائق جديد في نفس النطاق يزيد التوفّر ويقلّل تكلفة الجذب ويصعّد الثقة.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الأونلاين — منظومة القنوات الإبداعية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تيك توك / ريلز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الأوسع انتشاراً — فيديوهات قصيرة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فيسبوك + ماسنجر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الثقة والجمهور الأوسع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إنستغرام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بصرية / حياة / جمال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واتساب / تيليجرام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بيع وخدمة وتأكيد طلبات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69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6908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343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ASO + SEO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نموّ غير مكلّف من المتجر والبحث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069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069080"/>
            <a:ext cx="14630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343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الإحالة + الولاء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أعلى تحويل في القطاع الصحي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CREATIVE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الحملة الكبرى: «صيدليتُك لا صفحةٌ مجهولة»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777240"/>
          </a:xfrm>
          <a:prstGeom prst="roundRect">
            <a:avLst>
              <a:gd name="adj" fmla="val 2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حملة توعوية وطنية تتصدّى لظاهرة الأدوية المزوّرة — تخدم المريض وتبني العلامة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17520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سلسلة «كيف تتحقق أن الدواء أصلي؟» — تعليم + بناء ثقة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4760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فيديوهات «الفرق بين صيدلية مرخّصة وصفحة وهمية» بأسلوب قصصي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572000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محتوى «جناح الثقة» — لقطات حقيقية من رحلة توثيق الصيدليات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349240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هاشتاغ حامل للحملة (بمراجعة ناطق وقانوني)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~90% من مستخدمي الإنترنت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الأونلاين: تيك توك / ريلز — الأوسع انتشاراً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73152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المحتوى قصير، حقيقي، وموثوق — لا ادّعاءات صحية خارج الرقابة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17520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«دواءك موجود؟» — مقاطع قصيرة تبحث عن دواء نادر وتُظهر توفّره الفعلي.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886200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7647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«رحلة الطلب في 10 ثوانٍ» — من تصوير الوصفة إلى استلام الطرد.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754880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سلسلة «ضحّينا على الصفحات المزوّرة» — بفكاهة حذرة تشرح الفخاخ.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623560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1383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قصص حقيقية من المستخدمين (UGC) بدعم تعاوني.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6492240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38251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معلومة صيدلانية قصيرة — بمراجعة صيدلانية صارمة (منع الجرعات/الاستبدال).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الثقة والمحادثة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الأونلاين: فيسبوك + ماسنجر + واتساب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303520" cy="594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المحتوى والثقة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4320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63347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الاستفادة من تحذير النقابة: «الدواء يُعرض في الصيدلية، لا في صفحة».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4048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3075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محتوى طمأنة بجهة مرخّصة معزّز بدليل التوثيق.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93776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2803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مجموعات الأحياء/الأمهات — حملات إرشاد ووعي صحي.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303520" cy="5943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المحادثة والأتمتة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2743200"/>
            <a:ext cx="201168" cy="20116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63347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بوت ماسنجر/واتساب: تأكيد الطلب، تتبّع الحالة، دعم مباشر.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840480"/>
            <a:ext cx="201168" cy="20116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73075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جروب واتساب/تيليجرام رسمي — خدمة وطلبات وتعويض لمستخدمي iOS.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4937760"/>
            <a:ext cx="201168" cy="20116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828032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بيئة محادثة مألوفة تقلّل الاحتكاك وترفع التحوّل.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الأونلاين: إنستغرام + ASO + الإحالة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66160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إنستغرام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ستوريات «ماذا في طلبك؟» — محتوى حي يومي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هايلايتس «كيف تعمل صلة» + «لماذا نحن آمنون»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37760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تعاون مؤثّرون محليون مع إفصاح ومراجعة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828800"/>
            <a:ext cx="3566160" cy="7315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93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ASO + SEO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2834640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6974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كلمات: «صيدلية أونلاين»، «توصيل أدوية بغداد»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3886200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7490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أيقونة + لقطات عربية دعائية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4937760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80060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تقييمات حقيقية + الردّ على كل تقييم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288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28800"/>
            <a:ext cx="3566160" cy="73152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993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إحالة + ولاء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283464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6974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كود إحالة عائلي (الدواء شأن عائلي)</a:t>
            </a:r>
          </a:p>
        </p:txBody>
      </p:sp>
      <p:sp>
        <p:nvSpPr>
          <p:cNvPr id="31" name="Oval 30"/>
          <p:cNvSpPr/>
          <p:nvPr/>
        </p:nvSpPr>
        <p:spPr>
          <a:xfrm>
            <a:off x="8503920" y="388620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7490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برنامج ولاء بنقاط لكل طلب</a:t>
            </a:r>
          </a:p>
        </p:txBody>
      </p:sp>
      <p:sp>
        <p:nvSpPr>
          <p:cNvPr id="33" name="Oval 32"/>
          <p:cNvSpPr/>
          <p:nvPr/>
        </p:nvSpPr>
        <p:spPr>
          <a:xfrm>
            <a:off x="8503920" y="4937760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80060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خصم محدود لأوّل طلب / شحن مؤقّت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الأوفلاين — حضورٌ ملموس في الشارع والصعيد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46304" cy="18288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الشراكات الصحية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عيادات، مستشفيات، أطباء، مختبرات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146304" cy="18288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نقاط الحضور المادي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ملصقات، أكياس تسليم، بطاقة QR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659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146304" cy="18288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السائقون كوسيلة إعلانية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80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أزياء موحّدة + لافتات متحرّكة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46304" cy="18288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التوعية المجتمعية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حملات بأضرار الأدوية المزوّرة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69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69080"/>
            <a:ext cx="146304" cy="18288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343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المناسبات والأجندة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مواسم الذروة والأعياد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الأوفلاين: الشراكات الصحية (أعلى مردود)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E0A458"/>
                </a:solidFill>
                <a:latin typeface="Segoe UI"/>
              </a:rPr>
              <a:t>ابتكار: </a:t>
            </a:r>
            <a:r>
              <a:rPr sz="1700" b="1">
                <a:solidFill>
                  <a:srgbClr val="FFFFFF"/>
                </a:solidFill>
                <a:latin typeface="Segoe UI"/>
              </a:rPr>
              <a:t>بوضع رمز QR في استقبال العيادة والمستشفى: «صوّر وصفتك، وأدويةُ توصلك إلى بيتك.»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182112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العيادات والمستشفيات والأطباء — QR عند الاستقبال وصالة الانتظار.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959352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المختبرات وأقسام التصوير — «استلم نتيجتك ووصفتك من مكانك».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736592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جمعيات خيرية — حملة «صلة خير» توصل الدواء للمحتاجين (قصة إنسانية).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513832"/>
            <a:ext cx="219456" cy="21945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المراعاة الحاكمة: سرّية بيانات المريض واتفاقيات الوصول.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GUERRILLA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الأوفلاين: السائقون كوسيلة إعلانية متحرّكة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السائق يتنقّل في كل نطاق يومياً — إعلانٌ مجانيٌّ متواصل يصل إلى كل حيّ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73552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أزياء موحّدة + لافتات على السيارات/الدراجات تحمل «صِلة دوائي — دواؤك يصلك».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50792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أكياس تسليم موحّدة تحمل الرمز وتمرّ عبر الأحياء يداً بيد.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28032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كود دعوة للسائق + برنامج «سائق يجلب سائقاً».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605272"/>
            <a:ext cx="219456" cy="219456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600" b="0">
                <a:solidFill>
                  <a:srgbClr val="505A6A"/>
                </a:solidFill>
                <a:latin typeface="Segoe UI"/>
              </a:rPr>
              <a:t>بطاقة ترحيب داخل كل طلب مع رمز QR وإمكانية مشاركة.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BRAND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الأوفلاين: التوعية المجتمعية والمناسبات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0352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303520" cy="59436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التوعية والمجتمع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88920"/>
            <a:ext cx="201168" cy="201168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679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حملات بأضرار الأدوية المزوّرة في المدارس والجامعات والمراكز.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31920"/>
            <a:ext cx="201168" cy="201168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بشراكة مع نقابة الصيادلة أو مؤسسات صحية — تُبنى الثقة وعلامة «المسؤول».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074920"/>
            <a:ext cx="201168" cy="201168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65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أيام فحص/تثقيف صحي برعاية «صلة» في سياق صحي موثوق.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530352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303520" cy="594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التوقيت والأجندة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278892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679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مواسم ذروة الأمراض (تغيّر الطقس/الإنفلونزا): «تجهّز — دواؤك يصلك بسرعة».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93192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822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مناسبات دينية وأعياد: حملات رحيمة «لا تترك دواءك ينتظر».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5074920"/>
            <a:ext cx="201168" cy="20116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9651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إطلاق إعلامي بتغطية صحافية محلية (PR) + دعوة مؤثّرين لتجربة طلب حقيقي.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الميزانية — توزيع الإنفاق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7607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محتوى + إبداع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576072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32918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9631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إعلانات أداء (ميتا/تيك توك/إنستغرام)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963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57607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تحفيز (خصم/إحالة/ولاء)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906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576072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11880"/>
            <a:ext cx="32918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8503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فريق B2B + عرض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850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15%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57607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7939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توظيف سائقين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7939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576072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800600"/>
            <a:ext cx="32918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737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0B2545"/>
                </a:solidFill>
                <a:latin typeface="Segoe UI"/>
              </a:rPr>
              <a:t>أدوات/قياس/تسويق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737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0E7C7B"/>
                </a:solidFill>
                <a:latin typeface="Segoe UI"/>
              </a:rPr>
              <a:t>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6509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E0A458"/>
                </a:solidFill>
                <a:latin typeface="Segoe UI"/>
              </a:rPr>
              <a:t>قاعدة: </a:t>
            </a:r>
            <a:r>
              <a:rPr sz="1500" b="0">
                <a:solidFill>
                  <a:srgbClr val="FFFFFF"/>
                </a:solidFill>
                <a:latin typeface="Segoe UI"/>
              </a:rPr>
              <a:t>لا تتجاوز الإنفاق المدفوع قبل أن يتحقّق CAC ≤ LTV و نسبة التوفّر ≥ الهدف.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خارطة الطريق — 12 شهراً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66160" cy="9144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الإثبات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300" b="1">
                <a:solidFill>
                  <a:srgbClr val="6B7484"/>
                </a:solidFill>
                <a:latin typeface="Segoe UI"/>
              </a:rPr>
              <a:t>0–3 أشهر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سيولة نطاق واحد، قياس، محتوى ثقة، إحالة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566160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النمو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300" b="1">
                <a:solidFill>
                  <a:srgbClr val="6B7484"/>
                </a:solidFill>
                <a:latin typeface="Segoe UI"/>
              </a:rPr>
              <a:t>3–9 أشهر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توسّع جغرافي، تصعيد تيك توك/إنستغرام، ASO، iOS، مضاعفة العرض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566160" cy="91440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التوسّع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300" b="1">
                <a:solidFill>
                  <a:srgbClr val="6B7484"/>
                </a:solidFill>
                <a:latin typeface="Segoe UI"/>
              </a:rPr>
              <a:t>9–18 شهراً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مدن جديدة، ولاء، شراكات عيادات، ربحية وحدة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مؤشّرات الأداء (KPIs)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E0A458"/>
                </a:solidFill>
                <a:latin typeface="Segoe UI"/>
              </a:rPr>
              <a:t>المؤشّر الأساسيّ: </a:t>
            </a:r>
            <a:r>
              <a:rPr sz="1700" b="1">
                <a:solidFill>
                  <a:srgbClr val="FFFFFF"/>
                </a:solidFill>
                <a:latin typeface="Segoe UI"/>
              </a:rPr>
              <a:t>عدد الطلبات المكتملة المدفوعة / أسبوع (North-Star)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الاستحواذ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تنزيل، تثبيت، CAC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004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رحلة الطلب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بحث/رفع، عروض، تأكيد، تسليم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004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جودة السوق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886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نسبة عروض، نسبة ردّ الصيدلية، تسليم ناجح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الاحتفاظ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تكرار الطلب 30 يوماً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7548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الاقتصاد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440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AOV، تحويل السلة، LTV/CAC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7548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العرض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440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صيدليات نشطة، سائقون، زمن التوصيل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000" b="1">
                <a:solidFill>
                  <a:srgbClr val="0B2545"/>
                </a:solidFill>
                <a:latin typeface="Segoe UI"/>
              </a:rPr>
              <a:t>المخاطر والامتثال — القطاع الصحي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قانوني/تنظيمي (أدوية)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استشارة قانونية وصيدلانية؛ توثيق؛ منع ادّعاءات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الادّعاءات الصحية/النصائح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مراجعة قبل النشر؛ منع الجرعات والاستبدال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الخصوصية والوصفات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تشفير؛ تقليل البيانات؛ سياسة؛ موافقة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جودة التسليم / تخلّف COD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رمز استلام؛ توثيق؛ مكافأة سائق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297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التبنّي الرقمي المنخفض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37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تعليم وثقة وإتاحة الطلب عبر واتساب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02336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023360"/>
            <a:ext cx="146304" cy="19202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297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Segoe UI"/>
              </a:rPr>
              <a:t>الاعتماد على الإعلانات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937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00" b="0">
                <a:solidFill>
                  <a:srgbClr val="505A6A"/>
                </a:solidFill>
                <a:latin typeface="Segoe UI"/>
              </a:rPr>
              <a:t>إحالة + محتوى + ASO + شفافية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نبدأ من هنا — أول 30 يوماً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Segoe UI"/>
              </a:rPr>
              <a:t>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470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القياس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C8E0DF"/>
                </a:solidFill>
                <a:latin typeface="Segoe UI"/>
              </a:rPr>
              <a:t>تتبّع التحويلات + UTM + مؤشّر أصلي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Segoe UI"/>
              </a:rPr>
              <a:t>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072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السيولة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C8E0DF"/>
                </a:solidFill>
                <a:latin typeface="Segoe UI"/>
              </a:rPr>
              <a:t>25 صيدلية + 15 سائقاً في نطاق واحد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4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Segoe UI"/>
              </a:rPr>
              <a:t>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67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الثقة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C8E0DF"/>
                </a:solidFill>
                <a:latin typeface="Segoe UI"/>
              </a:rPr>
              <a:t>صفحة هبوط + محتوى «صيدلية مرخّصة = دواء آمن»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Segoe UI"/>
              </a:rPr>
              <a:t>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27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النمو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5488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0">
                <a:solidFill>
                  <a:srgbClr val="C8E0DF"/>
                </a:solidFill>
                <a:latin typeface="Segoe UI"/>
              </a:rPr>
              <a:t>برنامج إحالة + حملة بصرية محدودة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المعركة معركة ثقة، لا معركة أسعار.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20040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5000"/>
              </a:lnSpc>
            </a:pPr>
            <a:r>
              <a:rPr sz="2000" b="0">
                <a:solidFill>
                  <a:srgbClr val="C8E0DF"/>
                </a:solidFill>
                <a:latin typeface="Segoe UI"/>
              </a:rPr>
              <a:t>قِس أولاً، ثم اكسب السيولة في نطاقٍ واحد، ثم قدّمْ نفسك «القناة القانونية المعتمدة» التي تنقذ العراقي من فوضى الصفحات غير الموثوقة — وابنِ محرّك نموّ مستداماً (إحالة + واتساب + محتوى + ASO + شراكات).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E0A458"/>
                </a:solidFill>
                <a:latin typeface="Segoe UI"/>
              </a:rPr>
              <a:t>صِـلَة دوائي  •  </a:t>
            </a:r>
            <a:r>
              <a:rPr sz="1800" b="0">
                <a:solidFill>
                  <a:srgbClr val="FFFFFF"/>
                </a:solidFill>
                <a:latin typeface="Segoe UI"/>
              </a:rPr>
              <a:t>دواؤك… يصلك من صيدلية مرخّصة قريبة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صالَة دوائي — الاستراتيجية التسويقية الشاملة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