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914400"/>
            <a:ext cx="2743200" cy="274320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62895" y="0"/>
            <a:ext cx="1463040" cy="146304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4754880"/>
            <a:ext cx="2377440" cy="237744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000" b="1">
                <a:solidFill>
                  <a:srgbClr val="E0A458"/>
                </a:solidFill>
                <a:latin typeface="Segoe UI"/>
              </a:rPr>
              <a:t>صِـلَة دوائي  |  Silla Al-Dawai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Segoe UI"/>
              </a:rPr>
              <a:t>الاستراتيجية التسويقية الشاملة</a:t>
            </a:r>
          </a:p>
          <a:p>
            <a:pPr algn="r" rtl="1" bidi="1">
              <a:lnSpc>
                <a:spcPct val="100000"/>
              </a:lnSpc>
              <a:spcBef>
                <a:spcPts val="1000"/>
              </a:spcBef>
            </a:pPr>
            <a:r>
              <a:rPr sz="2300" b="0">
                <a:solidFill>
                  <a:srgbClr val="C8E0DF"/>
                </a:solidFill>
                <a:latin typeface="Segoe UI"/>
              </a:rPr>
              <a:t>منصّة الرعاية الصيدلانية الرقمية في العراق — أونلاين وأوفلاين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80560"/>
            <a:ext cx="237744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الثقة  •  التوفّر الفعلي  •  الدفع عند الاستلام  •  النمو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0">
                <a:solidFill>
                  <a:srgbClr val="9FB7C7"/>
                </a:solidFill>
                <a:latin typeface="Segoe UI"/>
              </a:rPr>
              <a:t>دواؤك… يصلك من صيدلية مرخّصة قريبة منك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خطة العرض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4708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الخلاصة التنفيذية — من أين نبدأ؟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2257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السوق العراقي — أرقام تحسم القرار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61488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7977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9806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المشكلة الكبرى: فوضى الأدوية غير الموثوقة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36976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55264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7355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المنافسون وموقع التمايز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12464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30752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4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التموضع وبيان العلامة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87952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245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الجماهير المستهدفة: مريض، صيدلية، سائق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63440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81728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70001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نموذج النموّ — الـ Flywheel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38928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57216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75504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الإبداع أونلاين وأوفلاين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14416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632704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65099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آليات النمو، المؤشّرات، ومزيج التسويق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089904"/>
            <a:ext cx="502920" cy="457200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108192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١٠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612648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0">
                <a:solidFill>
                  <a:srgbClr val="0B2545"/>
                </a:solidFill>
                <a:latin typeface="Segoe UI"/>
              </a:rPr>
              <a:t>الخارطة، الميزانية، المخاطر — والبدء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الخلاصة التنفيذية: المعركة معركة ثقة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64240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40000"/>
              </a:lnSpc>
            </a:pPr>
            <a:r>
              <a:rPr sz="1700" b="0">
                <a:solidFill>
                  <a:srgbClr val="505A6A"/>
                </a:solidFill>
                <a:latin typeface="Segoe UI"/>
              </a:rPr>
              <a:t>السوق العراقي غارقٌ بصفحاتٍ وتطبيقات تبيع الأدوية عبر فيسبوك وإنستغرام وتيليغرام </a:t>
            </a:r>
            <a:r>
              <a:rPr sz="1700" b="1">
                <a:solidFill>
                  <a:srgbClr val="0B2545"/>
                </a:solidFill>
                <a:latin typeface="Segoe UI"/>
              </a:rPr>
              <a:t>بلا ترخيص ولا رقابة</a:t>
            </a:r>
            <a:r>
              <a:rPr sz="1700" b="0">
                <a:solidFill>
                  <a:srgbClr val="505A6A"/>
                </a:solidFill>
                <a:latin typeface="Segoe UI"/>
              </a:rPr>
              <a:t> — وقد حذّرت نقابة صيادلة العراق صراحةً من هذه الظاهرة لأنّها تمثّل خطراً على حياة المرضى (أدوية مغشوشة، منتهية الصلاحية، حسابات تنتحل اسم أطباء).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4340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164583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900" b="1">
                <a:solidFill>
                  <a:srgbClr val="E0A458"/>
                </a:solidFill>
                <a:latin typeface="Segoe UI"/>
              </a:rPr>
              <a:t>الموقع الذي لا يملكه أيّ منافس: </a:t>
            </a:r>
            <a:r>
              <a:rPr sz="1900" b="1">
                <a:solidFill>
                  <a:srgbClr val="FFFFFF"/>
                </a:solidFill>
                <a:latin typeface="Segoe UI"/>
              </a:rPr>
              <a:t>«صِلَة دوائي = القناة القانونية المعتمدة الوحيدة»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52297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422392"/>
            <a:ext cx="10515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50" b="0">
                <a:solidFill>
                  <a:srgbClr val="505A6A"/>
                </a:solidFill>
                <a:latin typeface="Segoe UI"/>
              </a:rPr>
              <a:t>كل قرار في هذه الاستراتيجية يجب أن يصدح بهذه الحقيقة — قبل أي قرار سعر أو حملة.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6089904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989320"/>
            <a:ext cx="10515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450" b="0">
                <a:solidFill>
                  <a:srgbClr val="505A6A"/>
                </a:solidFill>
                <a:latin typeface="Segoe UI"/>
              </a:rPr>
              <a:t>ثلاث ركائز للبداية (تفصيل في الشريحة التالية): قِسْ أولاً  •  كثّف جغرافياً  •  اصنع الفجوة التنظيمية صناعةً لا عائقاً.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Starting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ثلاث ركائز للبداية — بالترتيب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66160" cy="8686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١ — قِسْ قبل أن تنفق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400" b="0">
                <a:solidFill>
                  <a:srgbClr val="0B2545"/>
                </a:solidFill>
                <a:latin typeface="Segoe UI"/>
              </a:rPr>
              <a:t>النِسبةُ الأصلية للنجاح هي الطلب المكتمل المدفوع، لا عدد التنزيلات.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فعّل AppsFlyer/Firebase + GA4 + UTM على كل رابط ورمز QR قبل أول دينار.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566160" cy="8686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٢ — كثافة جغرافية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260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400" b="0">
                <a:solidFill>
                  <a:srgbClr val="0B2545"/>
                </a:solidFill>
                <a:latin typeface="Segoe UI"/>
              </a:rPr>
              <a:t>مشكلة السوق الثنائي (البيضة والدجاجة) تُحَلّ بالتكثّف في نطاق واحد (بغداد).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43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املأه صيدليات وسائقين حتى يتحقّق «توفّر عالٍ» — ولا حملات طلب واسعة قبل رصيد عرضٍ حقيقي.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566160" cy="86868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٣ — اصنع الفجوة التنظيمية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2608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400" b="0">
                <a:solidFill>
                  <a:srgbClr val="0B2545"/>
                </a:solidFill>
                <a:latin typeface="Segoe UI"/>
              </a:rPr>
              <a:t>تحوّل التحذير القانوني من عائقٍ منافسٍ إلى ميزةٍ وُجدت لأجلنا.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43400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حملة «دواؤك يصلك من صيدلية مرخّصة» تتصدّى للصفحات غير الموثوقة: تخدم المريض وتبني العلامة.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First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خارطة أول ٣٠ يوماً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28016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1828800"/>
            <a:ext cx="246888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731520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83664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الأسبوع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83664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الأولوية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83664"/>
            <a:ext cx="6903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الإجراء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828800"/>
            <a:ext cx="12801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1828800"/>
            <a:ext cx="24688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73152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65376"/>
            <a:ext cx="868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50" b="1">
                <a:solidFill>
                  <a:srgbClr val="0B2545"/>
                </a:solidFill>
                <a:latin typeface="Segoe UI"/>
              </a:rPr>
              <a:t>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1865376"/>
            <a:ext cx="2057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0E7C7B"/>
                </a:solidFill>
                <a:latin typeface="Segoe UI"/>
              </a:rPr>
              <a:t>القياس + العرض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865376"/>
            <a:ext cx="69037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تتبّع كامل من التنزيل إلى الطلب؛ تجهيز ١٠–٢٥ صيدلية مرخّصة مؤكّدة في النطاق؛ ضبط «التوفّر الفعلي» وهدف زمن التلبية.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828801"/>
            <a:ext cx="12801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1828801"/>
            <a:ext cx="24688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828801"/>
            <a:ext cx="73152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65377"/>
            <a:ext cx="868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50" b="1">
                <a:solidFill>
                  <a:srgbClr val="0B2545"/>
                </a:solidFill>
                <a:latin typeface="Segoe UI"/>
              </a:rPr>
              <a:t>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1865377"/>
            <a:ext cx="2057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0E7C7B"/>
                </a:solidFill>
                <a:latin typeface="Segoe UI"/>
              </a:rPr>
              <a:t>تجربة التسليم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1865377"/>
            <a:ext cx="69037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توظيف ١٠–١٥ سائقاً مؤكّداً؛ ضبط زمن التوصيل؛ إصدار دليل «صفر تأخير» للسائقين.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828802"/>
            <a:ext cx="12801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0" y="1828802"/>
            <a:ext cx="24688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828802"/>
            <a:ext cx="73152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865378"/>
            <a:ext cx="868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50" b="1">
                <a:solidFill>
                  <a:srgbClr val="0B2545"/>
                </a:solidFill>
                <a:latin typeface="Segoe UI"/>
              </a:rPr>
              <a:t>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1865378"/>
            <a:ext cx="2057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0E7C7B"/>
                </a:solidFill>
                <a:latin typeface="Segoe UI"/>
              </a:rPr>
              <a:t>أول محتوى ثقة + إحالة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865378"/>
            <a:ext cx="69037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صفحة هبوط عربية؛ محتوى «صيدلية مرخّصة = دواء آمن»؛ تفعيل برنامج الإحالة.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828803"/>
            <a:ext cx="12801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1828803"/>
            <a:ext cx="24688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1828803"/>
            <a:ext cx="73152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1865379"/>
            <a:ext cx="868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50" b="1">
                <a:solidFill>
                  <a:srgbClr val="0B2545"/>
                </a:solidFill>
                <a:latin typeface="Segoe UI"/>
              </a:rPr>
              <a:t>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1865379"/>
            <a:ext cx="2057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0E7C7B"/>
                </a:solidFill>
                <a:latin typeface="Segoe UI"/>
              </a:rPr>
              <a:t>أول حملة بصرية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1865379"/>
            <a:ext cx="69037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حملة محلية محدودة (ميتا/إنستغرام/TikTok) في نفس النطاق، برسالة الثقة والدفع عند الاستلام — مع مراقبة CAC مقابل القيمة.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87959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E0A458"/>
                </a:solidFill>
                <a:latin typeface="Segoe UI"/>
              </a:rPr>
              <a:t>القاعدة: </a:t>
            </a:r>
            <a:r>
              <a:rPr sz="1400" b="0">
                <a:solidFill>
                  <a:srgbClr val="FFFFFF"/>
                </a:solidFill>
                <a:latin typeface="Segoe UI"/>
              </a:rPr>
              <a:t>لا زبوناً يدفع له إعلان ليجد «لا توفّر» — يرتدّ ولا يعود.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Iraq Market  •  أوائل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السوق العراقي — أرقام تحسم القرار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9319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783080"/>
            <a:ext cx="39319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783080"/>
            <a:ext cx="320040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المؤشّر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37944"/>
            <a:ext cx="3520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القيمة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837944"/>
            <a:ext cx="2788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الدلالة التسويقية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783080"/>
            <a:ext cx="3200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9656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عدد السكان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819656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~46.5 مليون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819656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72% في المدن — كتلة سوق حضرية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1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1783081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783081"/>
            <a:ext cx="32004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19657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مستخدمو الإنترنت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819657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~38.0 مليون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1819657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81.7% — بنية رقمية واسعة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783081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1783081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1783081"/>
            <a:ext cx="3200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819657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هويّات التواصل الاجتماعي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1819657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~34.3 مليون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1819657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73.8% — جمهور ضخم للتعليم الذاتي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83082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0" y="1783082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2480" y="1783082"/>
            <a:ext cx="32004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1819658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تيك توك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1819658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يبلغ 90% من مستخدمي الإنترنت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1819658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القناة الأوسع انتشاراً في العراق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1783082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60" y="1783082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1783082"/>
            <a:ext cx="3200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1819658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فيسبوك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1819658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~20.1 مليون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1819658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75% من البالغين — الأشد ثقة للجمهور الأوسع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783083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1783083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0" y="1783083"/>
            <a:ext cx="32004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1819659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إنستغرام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1819659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~19.0 مليون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1819659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69% من البالغين — بصرية وحياة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1783083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1783083"/>
            <a:ext cx="3931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0" y="1783083"/>
            <a:ext cx="32004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1819659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سناب شات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1819659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~18.5 مليون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1819659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جمهور شاب جداً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1783084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80560" y="1783084"/>
            <a:ext cx="3931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0" y="1783084"/>
            <a:ext cx="32004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1819660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العمر الوسيط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1819660"/>
            <a:ext cx="3520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20.8 سنة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1819660"/>
            <a:ext cx="27889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سوق شابّ — والدواء يمسّ العائلات كلّها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Hidden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المشكلة الكبرى: فوضى الأدوية غير الموثوقة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نقابة صيادلة العراق تُحذّر المواطنين رسمياً من شراء الأدوية ومستحضرات العناية والمكمّلات عبر صفحات التواصل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106424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4261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4203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البيع الإلكتروني للأدوية المسجّلة خارج صيدلية مرخّصة مخالفٌ للقانون — والدواء يحتاج نصيحة صيدلي وتوضيح محاذير الاستعمال.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300984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تحذير النقابة صريح: «أي إعلان أو ترويج عبر مواقع التواصل مخالفةٌ يحاسب عليها المعلن» — والصيدلي المخالف يُحاسَب نقابياً.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59352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858768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تحقيقات صحفية تكشف حسابات وهمية على فيسبوك تنتحل صفة أطباء معروفين: علاجات وهمية، أدوية منتهية الصلاحية، وخلطات عشبية — وعجز عن ملاحقتها.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617720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17136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المصدر الشرعي الوحيد للدواء بحكم التعريف: الصيدلية المرخّصة الخاضعة للرقابة.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1656349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«صِلَة دوائي = القناة القانونية المعتمدة» — حجّةٌ لا يملكها أحد، ودعايةٌ مجانية إن أُحسنت صياغتها كحملة توعية وطنية.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Consumer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سلوك المستهلك العراقي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400" b="1">
                <a:solidFill>
                  <a:srgbClr val="0E7C7B"/>
                </a:solidFill>
                <a:latin typeface="Segoe UI"/>
              </a:rPr>
              <a:t>60–70%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من عمليات الشراء الإلكترونية ما تزال نقداً عند الاستلام — «حماية لحقّك».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صِلَة تتبنّاه منذ اليوم: ميزةٌ لا عيب.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566160" cy="128016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488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400" b="1">
                <a:solidFill>
                  <a:srgbClr val="E0A458"/>
                </a:solidFill>
                <a:latin typeface="Segoe UI"/>
              </a:rPr>
              <a:t>ثقة قبل سعر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غياب التحقّق يرفع الاحتيال؛ فالكسب هو للطرف «الموثّق» لا «الأرخص».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06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التوثيق هو سعرُ الثقة في هذا السوق.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566160" cy="128016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488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400" b="1">
                <a:solidFill>
                  <a:srgbClr val="0A5C5B"/>
                </a:solidFill>
                <a:latin typeface="Segoe UI"/>
              </a:rPr>
              <a:t>محادثة قبل صفحة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718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الأعمال والمشتريات تُدار عبر واتساب/تيليغرام أكثر من الصفحات.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06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قناة الطلب/التأكيد عبر المحادثة المألوفة.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E0A458"/>
                </a:solidFill>
                <a:latin typeface="Segoe UI"/>
              </a:rPr>
              <a:t>مدن الطلب الأعلى (البدء والتوسّع):  </a:t>
            </a:r>
            <a:r>
              <a:rPr sz="1600" b="1">
                <a:solidFill>
                  <a:srgbClr val="FFFFFF"/>
                </a:solidFill>
                <a:latin typeface="Segoe UI"/>
              </a:rPr>
              <a:t>بغداد  •  البصرة  •  أربيل  •  الموصل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تحليل المنافسين — وموقع التمايز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38328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1783080"/>
            <a:ext cx="365760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783080"/>
            <a:ext cx="402336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المنافس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37944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طبيعته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37944"/>
            <a:ext cx="3611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تمايز صِلَة في مواجهته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3832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783080"/>
            <a:ext cx="36576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783080"/>
            <a:ext cx="4023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9656"/>
            <a:ext cx="2971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فلق (Falaq) — الموصل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819656"/>
            <a:ext cx="32461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سوق B2B يربط الصيدليات بالمذاخر والشركات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819656"/>
            <a:ext cx="3611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صِلَة تخدم المريض النهائي B2C بسوق عروض وتوصيل للباب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1"/>
            <a:ext cx="33832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783081"/>
            <a:ext cx="36576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1783081"/>
            <a:ext cx="40233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19657"/>
            <a:ext cx="2971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فاركس (Pharx) — الموصل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1819657"/>
            <a:ext cx="32461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يربط المريض بشبكة صيدليات للبحث عن التوفّر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819657"/>
            <a:ext cx="3611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صِلَة تضيف: مقارنة عروض، دفع عند الاستلام، سائقين، منظومة متكاملة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783082"/>
            <a:ext cx="33832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1783082"/>
            <a:ext cx="36576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89520" y="1783082"/>
            <a:ext cx="4023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819658"/>
            <a:ext cx="2971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Iraq Gate Pharmacy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819658"/>
            <a:ext cx="32461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متجر أونلاين يعتمد غالباً على صيدلية/متجر واحد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1819658"/>
            <a:ext cx="3611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صِلَة = سوق عروض متعدّدة الصيدليات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83082"/>
            <a:ext cx="33832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31920" y="1783082"/>
            <a:ext cx="365760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1783082"/>
            <a:ext cx="40233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1819658"/>
            <a:ext cx="2971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صيدليات الدواء (Al-Dawaa)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1819658"/>
            <a:ext cx="32461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سلاسل راسخة خليجية مع توصيل وولاء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819658"/>
            <a:ext cx="3611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مؤشّر الاتجاه الإقليمي — ليس المنافس العراقي المباشر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1783083"/>
            <a:ext cx="33832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0" y="1783083"/>
            <a:ext cx="36576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1783083"/>
            <a:ext cx="4023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1819659"/>
            <a:ext cx="2971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صفحات/تطبيقات غير موثوقة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1819659"/>
            <a:ext cx="32461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تبيع الأدوية بلا ترخيص عبر فيسبوك/تيليغرام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1819659"/>
            <a:ext cx="3611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التميّز الأكبر: القناة القانونية المعتمدة — حجّةٌ لا يملكها أحد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00" b="1">
                <a:solidFill>
                  <a:srgbClr val="E0A458"/>
                </a:solidFill>
                <a:latin typeface="Segoe UI"/>
              </a:rPr>
              <a:t>ملاحظة منهجية: </a:t>
            </a:r>
            <a:r>
              <a:rPr sz="1200" b="0">
                <a:solidFill>
                  <a:srgbClr val="6B7484"/>
                </a:solidFill>
                <a:latin typeface="Segoe UI"/>
              </a:rPr>
              <a:t>قائمة مؤشّرات لا حقائق نهائية — يُتحقّق من نطاق كل منافس ببياناتٍ محدّثة.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Positioning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بيان التموضع (للمريض)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64592" cy="31089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0241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45000"/>
              </a:lnSpc>
            </a:pPr>
            <a:r>
              <a:rPr sz="1900" b="0">
                <a:solidFill>
                  <a:srgbClr val="505A6A"/>
                </a:solidFill>
                <a:latin typeface="Segoe UI"/>
              </a:rPr>
              <a:t>«صِلَة دوائي — منصّة الرعاية الصيدلانية في العراق. دواؤك يصلك من </a:t>
            </a:r>
            <a:r>
              <a:rPr sz="1900" b="1">
                <a:solidFill>
                  <a:srgbClr val="0E7C7B"/>
                </a:solidFill>
                <a:latin typeface="Segoe UI"/>
              </a:rPr>
              <a:t>صيدليات مرخّصة قريبة</a:t>
            </a:r>
            <a:r>
              <a:rPr sz="1900" b="0">
                <a:solidFill>
                  <a:srgbClr val="505A6A"/>
                </a:solidFill>
                <a:latin typeface="Segoe UI"/>
              </a:rPr>
              <a:t>، تُقارن عروضها فعلياً، وتدفع </a:t>
            </a:r>
            <a:r>
              <a:rPr sz="1900" b="1">
                <a:solidFill>
                  <a:srgbClr val="0E7C7B"/>
                </a:solidFill>
                <a:latin typeface="Segoe UI"/>
              </a:rPr>
              <a:t>نقداً عند الاستلام</a:t>
            </a:r>
            <a:r>
              <a:rPr sz="1900" b="0">
                <a:solidFill>
                  <a:srgbClr val="505A6A"/>
                </a:solidFill>
                <a:latin typeface="Segoe UI"/>
              </a:rPr>
              <a:t>. ثقتك من ورائها سلطةٌ لا تُنتحل: صيدليّة مرخّصة، ودواءٌ فعلي التوفّر — </a:t>
            </a:r>
            <a:r>
              <a:rPr sz="1900" b="1">
                <a:solidFill>
                  <a:srgbClr val="0B2545"/>
                </a:solidFill>
                <a:latin typeface="Segoe UI"/>
              </a:rPr>
              <a:t>لا وعودٌ على صفحات مجهولة.»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06877320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900" b="1">
                <a:solidFill>
                  <a:srgbClr val="E0A458"/>
                </a:solidFill>
                <a:latin typeface="Segoe UI"/>
              </a:rPr>
              <a:t>«لأنّ صحتك لا تحتمل المجازفة» — </a:t>
            </a:r>
            <a:r>
              <a:rPr sz="1900" b="1">
                <a:solidFill>
                  <a:srgbClr val="FFFFFF"/>
                </a:solidFill>
                <a:latin typeface="Segoe UI"/>
              </a:rPr>
              <a:t>صِلَة ليست تطبيق توصيل، بل شبكة صحية مُدارة ومرخّصة.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One Brand  •  Three 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عبارة التموضع لكل طرف — والركائز الثلاث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0" y="1783080"/>
            <a:ext cx="1005840" cy="8686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201168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للمريض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B2545"/>
                </a:solidFill>
                <a:latin typeface="Segoe UI"/>
              </a:rPr>
              <a:t>«قارن العروض، وادفع عند الاستلام، واطمئنّ: صيدليّة مرخّصة لا صفحة مجهولة.»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0" y="2807208"/>
            <a:ext cx="1005840" cy="86868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3035808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للصيدليّة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B2545"/>
                </a:solidFill>
                <a:latin typeface="Segoe UI"/>
              </a:rPr>
              <a:t>«قناة رقمية إضافية… وأنت صاحب السعر والقرار.»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31336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07040" y="3831336"/>
            <a:ext cx="1005840" cy="86868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4059936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للسائق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95928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B2545"/>
                </a:solidFill>
                <a:latin typeface="Segoe UI"/>
              </a:rPr>
              <a:t>«دخلٌ مرن، ودورٌ يوصّل دواءً لا مجرّد طرود.»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E7C7B"/>
                </a:solidFill>
                <a:latin typeface="Segoe UI"/>
              </a:rPr>
              <a:t>الركائز الثلاث لعلامة «صِلَة»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4068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59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E0A458"/>
                </a:solidFill>
                <a:latin typeface="Segoe UI"/>
              </a:rPr>
              <a:t>الثقة المرخّصة  </a:t>
            </a:r>
            <a:r>
              <a:rPr sz="1250" b="0">
                <a:solidFill>
                  <a:srgbClr val="FFFFFF"/>
                </a:solidFill>
                <a:latin typeface="Segoe UI"/>
              </a:rPr>
              <a:t>— الجميع موثّقون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44068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559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E0A458"/>
                </a:solidFill>
                <a:latin typeface="Segoe UI"/>
              </a:rPr>
              <a:t>التوفّر الفعلي  </a:t>
            </a:r>
            <a:r>
              <a:rPr sz="1250" b="0">
                <a:solidFill>
                  <a:srgbClr val="FFFFFF"/>
                </a:solidFill>
                <a:latin typeface="Segoe UI"/>
              </a:rPr>
              <a:t>— لا وعود — عرضٌ حقيقي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440680"/>
            <a:ext cx="3566160" cy="777240"/>
          </a:xfrm>
          <a:prstGeom prst="roundRect">
            <a:avLst>
              <a:gd name="adj" fmla="val 18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55955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E0A458"/>
                </a:solidFill>
                <a:latin typeface="Segoe UI"/>
              </a:rPr>
              <a:t>الدفع عند الاستلام  </a:t>
            </a:r>
            <a:r>
              <a:rPr sz="1250" b="0">
                <a:solidFill>
                  <a:srgbClr val="FFFFFF"/>
                </a:solidFill>
                <a:latin typeface="Segoe UI"/>
              </a:rPr>
              <a:t>— معاملتك بيدك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الجماهير: المرضى (B2C) — 4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88036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783080"/>
            <a:ext cx="32461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783080"/>
            <a:ext cx="283464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09760" y="1783080"/>
            <a:ext cx="2130552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37944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الشريحة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3794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من هم؟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837944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المحفّز الأكبر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1837944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رسالتنا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83080"/>
            <a:ext cx="2880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783080"/>
            <a:ext cx="32461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783080"/>
            <a:ext cx="28346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783080"/>
            <a:ext cx="2130552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819656"/>
            <a:ext cx="2468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مريض مزمن / مسنّ / مقيّد الحركة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819656"/>
            <a:ext cx="28346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يعتمد أدويةً باستمرار أو لا يقدر على الذهاب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819656"/>
            <a:ext cx="2423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استمرارية الدواء + التوفّر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1819656"/>
            <a:ext cx="171907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«لا تنقطع أدويتك. نوصلها لك.»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783081"/>
            <a:ext cx="28803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29000" y="1783081"/>
            <a:ext cx="32461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783081"/>
            <a:ext cx="283464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783081"/>
            <a:ext cx="2130552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819657"/>
            <a:ext cx="2468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أمّ / ربّ أسرة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1819657"/>
            <a:ext cx="28346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تدير صحة العائلة (أطفال، كبار)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819657"/>
            <a:ext cx="2423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راحة، ثقة، وسرعة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1819657"/>
            <a:ext cx="171907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«دواؤك يصلك وأنت في بيتك.»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83082"/>
            <a:ext cx="288036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1783082"/>
            <a:ext cx="32461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1783082"/>
            <a:ext cx="28346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1783082"/>
            <a:ext cx="2130552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1819658"/>
            <a:ext cx="2468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الموظف / العامل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1819658"/>
            <a:ext cx="28346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لا يملك وقتاً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1819658"/>
            <a:ext cx="2423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توفير الوقت والسعر والتوفّر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1819658"/>
            <a:ext cx="171907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«اطلب من مكتبك، يصل باب بيتك.»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1783083"/>
            <a:ext cx="288036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29000" y="1783083"/>
            <a:ext cx="32461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0" y="1783083"/>
            <a:ext cx="283464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1783083"/>
            <a:ext cx="2130552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1819659"/>
            <a:ext cx="24688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الشاب الرقمي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1819659"/>
            <a:ext cx="28346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مرتاح للمنصّات ويقارن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1819659"/>
            <a:ext cx="2423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الشفافية والسعر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1819659"/>
            <a:ext cx="171907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«هل دواؤك متوفّر لديهم فعلاً؟ شوف بنفسك.»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2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50" b="1">
                <a:solidFill>
                  <a:srgbClr val="E0A458"/>
                </a:solidFill>
                <a:latin typeface="Segoe UI"/>
              </a:rPr>
              <a:t>حواجز القرار: </a:t>
            </a:r>
            <a:r>
              <a:rPr sz="1350" b="0">
                <a:solidFill>
                  <a:srgbClr val="FFFFFF"/>
                </a:solidFill>
                <a:latin typeface="Segoe UI"/>
              </a:rPr>
              <a:t>الثقة بالترخيص  •  التوفّر  •  وضوح السعر  •  خصوصية الوصفة  •  الدفع عند الاستلام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الجماهير: الصيدليات (B2B) والسائقون (Gig)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الصيدليات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7063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صيدلية مستقلة صغيرة — تطلب أوامر إضافية بلا مصروف تسويق، وتهتمّ باستقلاليّتها.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41071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محفّزها: «أوامر إضافية بلا جهد تسويقي، وأنت من يحدّد الأسعار».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3367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14223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صيدلية متوسّطة / سلسلة — تريد توسّعاً رقمياً وسجلّ تسويات واضح.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96519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7375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محفّزها: «لوحة متكاملة وتسوية شفّافة ومرجعية».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69671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60527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البوابة: B2B ميداني — فريق + Demo + Onboarding، ابدأ بالصيدليات ذات المرجعية.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5303520" cy="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السائقون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77063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67919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الباحثون عن دخل مرن: طلاّب، مستقلّون، أصحاب سيارات ودراجات.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50215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41071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محفّزهم: المرونة، الأرباح الواضحة، والأوامر القريبة.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23367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14223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القيمة المعنوية: «دورٌ يوصّل دواءً يغيّر يوم إنسان» — سببٌ للعمل لا مجرّد أجرة.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96519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87375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آلية النمو: إحالة سائق + شفافية الأرباح + ترقية «سائق يجلب سائقاً».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569671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560527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التدريب: مهنيّة، سرّيّة، وزمن «صفر تأخير» — التسليم = وجهُ العلامة.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Growth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نموذج النموّ — الـ Flywheel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53556093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«الكثافة قبل الاتّساع» (Density-First) — ابدأ بنطاقٍ واحد مكثّف حتى يتحقّق توفّرٌ عالٍ، ثم توسّع.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880360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04495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توفّرٌ عالٍ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977639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142231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تجربة ممتازة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074920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2395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كلمة شفاهة / إحالة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880360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04495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مزيدٌ من الزبائن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77639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142231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أوامر أكثر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074920"/>
            <a:ext cx="3566160" cy="868680"/>
          </a:xfrm>
          <a:prstGeom prst="roundRect">
            <a:avLst>
              <a:gd name="adj" fmla="val 3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523951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 bidi="1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عرضٌ أقوى: صيدليات وسائقون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88920"/>
            <a:ext cx="33832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17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E7C7B"/>
                </a:solidFill>
                <a:latin typeface="Segoe UI"/>
              </a:rPr>
              <a:t>لماذا يعمل؟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كلّ صيدلية وسائقٍ جديد في نفس النطاق يزيد التوفّر، يقلّل تكلفة الجذب، ويصعّد الثقة — قيمةٌ تتزايد مع كل دورة.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3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42432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0B2545"/>
                </a:solidFill>
                <a:latin typeface="Segoe UI"/>
              </a:rPr>
              <a:t>التبكير (Seeding): </a:t>
            </a:r>
            <a:r>
              <a:rPr sz="1400" b="0">
                <a:solidFill>
                  <a:srgbClr val="0B2545"/>
                </a:solidFill>
                <a:latin typeface="Segoe UI"/>
              </a:rPr>
              <a:t>أطلق في مناطق طلبٍ شديد — بجوار المستشفيات والعيادات، أحياء سكنية كثيفة، مناطق تجارية — وأعطها أولويّة التغطية.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Online Creative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الأونلاين — منظومة القنوات الإبداعية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46304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تيك توك / ريلز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القناة الأوسع (90%) — فيديوهات قصيرة حقيقية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146304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فيسبوك + ماسنجر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الثقة والجمهور الأوسع — محتوى تحذير + بوت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146304" cy="187451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إنستغرام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بصرية وحياة — ستوريات يومية ومؤثّرون محليون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46304" cy="1874519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واتساب / تيليغرام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بيع وخدمة وتأكيد أوامر + بديل 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114800"/>
            <a:ext cx="146304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3708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ASO + SEO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0292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نموّ غير مكلّف من المتجر والبحث العربي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114800"/>
            <a:ext cx="146304" cy="187451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3708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إحالة + ولاء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0292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الدواء شأنٌ عائلي — أعلى تحويل في القطاع الصحي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Flagship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الحملة الكبرى: «صيدليتُك لا صفحةٌ مجهولة»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7162023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B2545"/>
                </a:solidFill>
                <a:latin typeface="Segoe UI"/>
              </a:rPr>
              <a:t>حملة توعوية وطنية تتصدّى لمخاطر صفحات الأدوية المزوّرة — مستندة إلى تحذير نقابة الصيادلة؛ تخدم المريض وتبني العلامة في آنٍ واحد.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09981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50" b="0">
                <a:solidFill>
                  <a:srgbClr val="505A6A"/>
                </a:solidFill>
                <a:latin typeface="Segoe UI"/>
              </a:rPr>
              <a:t>سلسلة محتوى «كيف تتحقق أن الدواء أصلي؟» — الملصق السعري، المصدر، العيوب، تاريخ الصلاحية: تعليم + بناء ثقة.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7705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7647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50" b="0">
                <a:solidFill>
                  <a:srgbClr val="505A6A"/>
                </a:solidFill>
                <a:latin typeface="Segoe UI"/>
              </a:rPr>
              <a:t>فيديوهات «الفرق بين صيدلية مرخّصة وصفحة وهمية» بأسلوب قصصي (شخصٌ يعاني من دواء منتهٍ الصلاحية).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5429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5371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50" b="0">
                <a:solidFill>
                  <a:srgbClr val="505A6A"/>
                </a:solidFill>
                <a:latin typeface="Segoe UI"/>
              </a:rPr>
              <a:t>محتوى «جناح الثقة»: لقطات حقيقية من رحلة التوثيق داخل صِلَة (مراجعة الترخيص والوثائق).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43153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33095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50" b="0">
                <a:solidFill>
                  <a:srgbClr val="505A6A"/>
                </a:solidFill>
                <a:latin typeface="Segoe UI"/>
              </a:rPr>
              <a:t>هاشتاغٌ حامل للحملة — بمراجعة ناطق وقانوني للصياغة قبل النشر.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~90% من مستخدمي الإنترنت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الأونلاين: تيك توك / ريلز — الأوسع انتشاراً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5355655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محتوى قصير، حقيقي، موثوق — بلا ادّعاءات صحية خارج الرقابة.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6265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6207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«دواؤك موجود؟» — مقاطع قصيرة تبحث عن دواءٍ نادر/شائع وتُظهر توفّره الفعلي في الصيدليات.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69417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59359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«رحلة الأمر في ١٠ ثوانٍ» — من تصوير الوصفة إلى استلام الطرد (By-Example).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42569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2511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سلسلة «ضحّينا على الصفحات المزوّرة» — بفكاهة محلية حذرة تشرح الفخاخ.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5721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5663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قصص حقيقية من المستخدمين (UGC) — مرضى وأهاليهم، بدعم تعاوني.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88873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78815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تحدٍّ/مسابقة بوسمٍ خاص — بشروط مراجعة الرعاة وعدم التضليل.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Trust &amp;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الأونلاين: فيسبوك + ماسنجر + واتساب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المحتوى والثقة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7063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استثمار تحذير النقابة: «الدواء يُعرض في الصيدلية، لا في صفحة» + طمأنة بجهةٍ مرخّصة.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4787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45643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دليل توثيق مرئي يرافق كل ادّعاء ثقة.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2511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23367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مجموعات المجتمع المحلي/الأمّهات — حملات إرشاد ووعي صحي.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0235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01091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إعلانات مخصّصة للأحياء المستهدفة في نطاق الإطلاق.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5303520" cy="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المحادثة والأتمتة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277063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67919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بوت ماسنجر/واتساب: تأكيد الأمر، تتبّع الحالة، ودعم مباشر — بيئة محادثة مألوفة تقلّل الاحتكاك.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354787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45643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جروب واتساب/تيليغرام رسمي: خدمة وأوامر وتعويضٍ لمستخدمي iOS قبل الإطلاق.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432511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423367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فصل الخدمة عن التسويق — قناة خدمة مستقلة بقواعد إلغاء اشتراك وخصوصية.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Visual &amp; Lifestyle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الأونلاين: إنستغرام — البصرية والحياة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566160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ستوريات يومية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5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«ماذا في أمرك؟» — محتوى حيّ يومي: تجهيز الطرد، لحظة التسليم، وجه السائق، شكر الزبون.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3566160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هايلايتس دائمة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1752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5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«كيف تعمل صِلَة» + «لماذا نحن آمنون» — إجابة كل سؤال ثقة قبل أن يُطرح.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566160" cy="82296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13055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0B2545"/>
                </a:solidFill>
                <a:latin typeface="Segoe UI"/>
              </a:rPr>
              <a:t>مؤثّرون محليون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5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صحة، أمومة، حياة، أطباء — بإفصاح واضح عن الرعاية ومراجعة كل ادّعاء قبل النشر.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35531275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قاعدة المؤثّرين: إفصاح واضح + مراجعة ادّعاءات + لا نصيحة طبية إطلاقاً.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Compounding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الأونلاين: نموّ غير مكلّف — ASO + SEO + إحالة + ولاء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ASO + SEO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7063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كلمات عربية عالية النية: «صيدلية أونلاين»، «توصيل أدوية بغداد»، «اطلب دواء»، «صيدلية قريبة» + أسماء أدوية شائعة.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41071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أيقونة + لقطات شاشة عربية دعائية: «عروض الصيدليات» و«الدفع عند الاستلام».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23367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14223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تقييمات ومراجعات حقيقية + ردّ على كل تقييم.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96519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87375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مدوّنة/أسئلة شائعة Long-tail: «أين أشتري دواء الفلاني؟»، «كيف أرفع وصفتي؟»، «مخاطر شراء الدواء أونلاين».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69671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605272"/>
            <a:ext cx="45262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ربط صفحة Google Play + مشروع 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828800"/>
            <a:ext cx="5303520" cy="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إحالة + ولاء + عرض حارس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77063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267919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كود إحالة عائلي — «الدواء شأنٌ عائلي»: مكافأة الموصي والموصى إليه معاً.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50215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41071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برنامج ولاء: نقاط لكل أمر وتوصية — يُغذّي التكرار لا الشراء الأول فقط.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23367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14223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عرض حارس: خصم محدود لأول أمر + شحن مجاني لفترة قصيرة — الإغراء المفرط يجلب زبائن لا يعودون.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96519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873752"/>
            <a:ext cx="4343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قياس الأثر بلا إفراط في الخصم.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A5C5B"/>
                </a:solidFill>
                <a:latin typeface="Segoe UI"/>
              </a:rPr>
              <a:t>Offline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الأوفلاين — حضورٌ ملموس في الحيّ والشارع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46304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الشراكات الصحية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عيادات، مستشفيات، أطباء، مختبرات — أعلى مردود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146304" cy="187451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نقاط الحضور المادي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ملصقات، أكياس تسليم موحّدة، رموز QR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146304" cy="1874519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2219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السائقون كوسيلة متحرّكة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8036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أزياء موحّدة + لافتات — إعلان مجاني متواصل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146304" cy="187451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التوعية المجتمعية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حملات بأضرار الأدوية المزوّرة + أيام فحص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1148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114800"/>
            <a:ext cx="146304" cy="1874519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3708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0B2545"/>
                </a:solidFill>
                <a:latin typeface="Segoe UI"/>
              </a:rPr>
              <a:t>المناسبات والأجندة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029200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5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مواسم الذروة والأعياد + حفل إطلاق إعلامي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Health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الأوفلاين: الشراكات الصحية — أعلى مردود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7162023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E0A458"/>
                </a:solidFill>
                <a:latin typeface="Segoe UI"/>
              </a:rPr>
              <a:t>الفكرة المحورية: </a:t>
            </a:r>
            <a:r>
              <a:rPr sz="1600" b="1">
                <a:solidFill>
                  <a:srgbClr val="FFFFFF"/>
                </a:solidFill>
                <a:latin typeface="Segoe UI"/>
              </a:rPr>
              <a:t>«صوّر وصفتك، وأدويةُ توصلك إلى بيتك» — رمز QR في استقبال العيادة وصالة الانتظار.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09981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العيادات والمستشفيات والأطباء — رمز QR عند الاستقبال (باتفاق مع العيادة، مع مراعاة سرّيّة بيانات المريض).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3133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3075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أقسام التصوير والمختبرات — «استلم نتيجتك ووصفتك من مكانك» — يستغلّ زيارةٍ هي في ذروة الحاجة.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56285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46227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جمعيات خيرية — حملة «صلة خير» توصّل الدواء للمحتاجين: قصة إنسانية تُغذي «القلب» من العلامة.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294376"/>
            <a:ext cx="210312" cy="210312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9379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الامتثال الحاكم: اتفاقيات وصول + خصوصية + لا نصيحة طبية من العلامة.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Guerrilla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الأوفلاين: حضورٌ مادي + السائق كوسيلة إعلانية متحرّكة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6258839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50" b="1">
                <a:solidFill>
                  <a:srgbClr val="0B2545"/>
                </a:solidFill>
                <a:latin typeface="Segoe UI"/>
              </a:rPr>
              <a:t>السائق يتجوّل في كل نطاق يومياً — إعلانٌ مجانيٌّ متواصل يصل إلى كل حيّ.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00837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أزياء موحّدة + لافتات على السيارات/الدراجات تحمل «صِلَة دوائي — دواؤك يصلك».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73989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3931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أكياس/شكائر ورقية موحّدة يُسلَّم بها الطرد + بطاقة ترحيب ورمز QR — تنتقل عبر الأحياء يداً بيد.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47141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7083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ملصقات/بوسترات في الصيدليات الشريكة ومراكز الخدمة والمناطق عالية الطلب.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202936"/>
            <a:ext cx="210312" cy="210312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02352"/>
            <a:ext cx="104241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500" b="0">
                <a:solidFill>
                  <a:srgbClr val="505A6A"/>
                </a:solidFill>
                <a:latin typeface="Segoe UI"/>
              </a:rPr>
              <a:t>كود دعوة السائق + برنامج «سائق يجلب سائقاً» — توسّع أسطولٍ يبني نفسه بنفسه.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Brand Purpose &amp;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الأوفلاين: التوعية المجتمعية والمناسبات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التوعية والمجتمع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77063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452628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حملات بأضرار الأدوية المزوّرة في المدارس والجامعات والمراكز المجتمعية.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59359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502152"/>
            <a:ext cx="452628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بشراكة مع نقابة الصيادلة أو مؤسسات صحية — تُبنى الثقة وعلامة «المسؤول».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1655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325112"/>
            <a:ext cx="452628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أيام فحص/تثقيف صحي برعاية «صِلَة» — اسمٌ حاضرٌ في سياقٍ صحي موثوق.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828800"/>
            <a:ext cx="5303520" cy="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3852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التوقيت والأجندة والإطلاق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277063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679192"/>
            <a:ext cx="434340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مواسم ذروة الأمراض (تغيّر الطقس، الإنفلونزا): «تجهّز — دواؤك يصلك بسرعة».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359359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502152"/>
            <a:ext cx="434340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مناسبات دينية وأعياد ورمضان: حملات رحيمية «لا تترك دواؤك ينتظر» + عروض ولاء (بمراجعة ثقافية/ناطق).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441655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4325112"/>
            <a:ext cx="434340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حفل إطلاق بحضور الصيادلة والشركاء + تغطية إعلامية محلية (PR).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523951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5148072"/>
            <a:ext cx="4343400" cy="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8000"/>
              </a:lnSpc>
            </a:pPr>
            <a:r>
              <a:rPr sz="1400" b="0">
                <a:solidFill>
                  <a:srgbClr val="505A6A"/>
                </a:solidFill>
                <a:latin typeface="Segoe UI"/>
              </a:rPr>
              <a:t>دعوة الصحافة/المؤثّرين لتجربة أمرٍ حقيقي — سردٌ يقود محتوى أصيلاً.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Growth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آليات النمو والتشغيل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4747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3360" y="1783080"/>
            <a:ext cx="292608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783080"/>
            <a:ext cx="466344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37944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الآلية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837944"/>
            <a:ext cx="2514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الأثر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37944"/>
            <a:ext cx="4251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ملاحظة تشغيلية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34747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23360" y="1783080"/>
            <a:ext cx="29260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1783080"/>
            <a:ext cx="46634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9656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إحالة + ولاء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819656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خفض CAC وتكرار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19656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الدواء شأن عائلي — قياس الأثر بلا إفراط في الخصم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1"/>
            <a:ext cx="34747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1783081"/>
            <a:ext cx="29260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0" y="1783081"/>
            <a:ext cx="466344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1819657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واتساب / تيليغرام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1819657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تقليل الاحتكاك + خدمة 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819657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إلغاء اشتراك وخصوصية — فصل الخدمة عن التسويق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783081"/>
            <a:ext cx="34747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0" y="1783081"/>
            <a:ext cx="29260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1783081"/>
            <a:ext cx="46634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1819657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B2B ميداني (Outbound)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1819657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ملء العرض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1819657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فريق + Demo + CSM — ابدأ بالصيدليات ذات المرجعية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83082"/>
            <a:ext cx="34747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23360" y="1783082"/>
            <a:ext cx="29260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1783082"/>
            <a:ext cx="466344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1819658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توظيف سائقين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1819658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إشباع الطلب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1819658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برامج إحالة + شفافية الأرباح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1783082"/>
            <a:ext cx="34747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23360" y="1783082"/>
            <a:ext cx="29260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49440" y="1783082"/>
            <a:ext cx="46634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1819658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شراكات عيادات/أطباء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1819658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إحالة عالية الثقة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1819658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خصوصية المريض — اتفاقيات وصلاحيات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1783083"/>
            <a:ext cx="34747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23360" y="1783083"/>
            <a:ext cx="292608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49440" y="1783083"/>
            <a:ext cx="466344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1819659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PR / المؤثّرون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1819659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بناء الثقة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1819659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إفصاح + مراجعة ادّعاءات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1783084"/>
            <a:ext cx="34747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23360" y="1783084"/>
            <a:ext cx="292608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1783084"/>
            <a:ext cx="466344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1819660"/>
            <a:ext cx="30632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1">
                <a:solidFill>
                  <a:srgbClr val="0B2545"/>
                </a:solidFill>
                <a:latin typeface="Segoe UI"/>
              </a:rPr>
              <a:t>ASO / SEO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0" y="1819660"/>
            <a:ext cx="2514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0E7C7B"/>
                </a:solidFill>
                <a:latin typeface="Segoe UI"/>
              </a:rPr>
              <a:t>نموّ غير مكلّف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1819660"/>
            <a:ext cx="42519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تحسين المتجر والمحتوى العربي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مؤشّرات الأداء (KPIs)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80651613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E0A458"/>
                </a:solidFill>
                <a:latin typeface="Segoe UI"/>
              </a:rPr>
              <a:t>المؤشّر الأساسي (North-Star): </a:t>
            </a:r>
            <a:r>
              <a:rPr sz="1600" b="1">
                <a:solidFill>
                  <a:srgbClr val="FFFFFF"/>
                </a:solidFill>
                <a:latin typeface="Segoe UI"/>
              </a:rPr>
              <a:t>عدد الأوامر المكتملة المدفوعة / أسبوع — مؤشّر النجاح الأصلي، لا عدد التنزيلات.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6382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الاستحواذ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تنزيل، تثبيت، CAC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0175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6382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رحلة الأمر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3931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بحث/رفع، عروض، تأكيد، تسليم، دفع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16382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جودة السوق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3931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نسبة أوامر حصلت على عرض، ردّ الصيدلية، تسليم ناجح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811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الاحتفاظ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5663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تكرار الأمر خلال ٣٠ يوماً، أوامر/عميل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434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5811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الاقتصاد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05663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AOV، تحويل السلة، LTV/CAC، تراجع COD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43484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5811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العرض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5663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صيدليات نشطة، سائقون، زمن/تكلفة التوصيل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5216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9846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0E7C7B"/>
                </a:solidFill>
                <a:latin typeface="Segoe UI"/>
              </a:rPr>
              <a:t>التجربة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150" b="0">
                <a:solidFill>
                  <a:srgbClr val="505A6A"/>
                </a:solidFill>
                <a:latin typeface="Segoe UI"/>
              </a:rPr>
              <a:t>تقييم المتجر، NPS، معدل الشكاوى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Marketing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مزيج التسويق (7Ps) — خلاصة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5603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1783080"/>
            <a:ext cx="8503920" cy="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37944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العنصر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37944"/>
            <a:ext cx="8092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القرار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25603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783080"/>
            <a:ext cx="8503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19656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المنتج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19656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التوفّر الفعلي على الواجهة، رفع الوصفة بلا احتكاك، إثبات الثقة، إرشاد صيدلاني بحدود تنظيمية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83081"/>
            <a:ext cx="25603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1783081"/>
            <a:ext cx="8503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819657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السعر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819657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بلا رسوم خفية؛ عمولة واضحة للصيدلية؛ «عرض حارس» مقيّد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1"/>
            <a:ext cx="25603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1783081"/>
            <a:ext cx="8503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819657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التوزيع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819657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نطاق مكثّف أولاً؛ تطبيق أندرويد/آيفون + واتساب + قنوات غير متجَر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1783082"/>
            <a:ext cx="25603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1783082"/>
            <a:ext cx="8503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1819658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الترويج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1819658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ثقة + تعليم + إحالة + محتوى + شراكات — بلا حملات مدفوعة واسعة في البداية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1783082"/>
            <a:ext cx="25603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1783082"/>
            <a:ext cx="8503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1819658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الأشخاص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1819658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التسليم = الوجه؛ تدريب السائقين على المهنيّة والسرّيّة وتقييمهم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1783083"/>
            <a:ext cx="25603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1783083"/>
            <a:ext cx="8503920" cy="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1819659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العمليات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1819659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سلاسة من الوصفة إلى الباب؛ التحقق النقدي؛ إدارة الغياب/تراجع الزبون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1783084"/>
            <a:ext cx="25603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08960" y="1783084"/>
            <a:ext cx="850392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1819660"/>
            <a:ext cx="21488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1">
                <a:solidFill>
                  <a:srgbClr val="0B2545"/>
                </a:solidFill>
                <a:latin typeface="Segoe UI"/>
              </a:rPr>
              <a:t>الإثبات المادي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1819660"/>
            <a:ext cx="809244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5000"/>
              </a:lnSpc>
            </a:pPr>
            <a:r>
              <a:rPr sz="1300" b="0">
                <a:solidFill>
                  <a:srgbClr val="0E7C7B"/>
                </a:solidFill>
                <a:latin typeface="Segoe UI"/>
              </a:rPr>
              <a:t>شارة التوثيق، الأزياء الموحّدة، رموز QR، هُوية عراقية محبوبة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خارطة الطريق — 12 شهراً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66160" cy="9601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3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المرحلة ١ — الإثبات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C8E0DF"/>
                </a:solidFill>
                <a:latin typeface="Segoe UI"/>
              </a:rPr>
              <a:t>0–3 أشهر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7355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8211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سيولة نطاقٍ واحد (بغداد)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14223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05079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قياس كامل + مؤشّر أصلي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010912"/>
            <a:ext cx="182880" cy="18288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1947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محتوى ثقة + إحالة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920240"/>
            <a:ext cx="3566160" cy="9601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2066543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المرحلة ٢ — النمو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5420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C8E0DF"/>
                </a:solidFill>
                <a:latin typeface="Segoe UI"/>
              </a:rPr>
              <a:t>3–9 أشهر</a:t>
            </a:r>
          </a:p>
        </p:txBody>
      </p:sp>
      <p:sp>
        <p:nvSpPr>
          <p:cNvPr id="21" name="Oval 20"/>
          <p:cNvSpPr/>
          <p:nvPr/>
        </p:nvSpPr>
        <p:spPr>
          <a:xfrm>
            <a:off x="4709160" y="327355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18211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توسّع جغرافي محوّلي</a:t>
            </a:r>
          </a:p>
        </p:txBody>
      </p:sp>
      <p:sp>
        <p:nvSpPr>
          <p:cNvPr id="23" name="Oval 22"/>
          <p:cNvSpPr/>
          <p:nvPr/>
        </p:nvSpPr>
        <p:spPr>
          <a:xfrm>
            <a:off x="4709160" y="414223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405079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تصعيد TikTok/Instagram + ASO</a:t>
            </a:r>
          </a:p>
        </p:txBody>
      </p:sp>
      <p:sp>
        <p:nvSpPr>
          <p:cNvPr id="25" name="Oval 24"/>
          <p:cNvSpPr/>
          <p:nvPr/>
        </p:nvSpPr>
        <p:spPr>
          <a:xfrm>
            <a:off x="4709160" y="5010912"/>
            <a:ext cx="182880" cy="18288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91947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إطلاق iOS + مضاعفة العرض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920240"/>
            <a:ext cx="35661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920240"/>
            <a:ext cx="3566160" cy="96012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066543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المرحلة ٣ — التوسّع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5420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C8E0DF"/>
                </a:solidFill>
                <a:latin typeface="Segoe UI"/>
              </a:rPr>
              <a:t>9–18 شهراً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0" y="327355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18211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مدن جديدة: البصرة، أربيل، الموصل</a:t>
            </a:r>
          </a:p>
        </p:txBody>
      </p:sp>
      <p:sp>
        <p:nvSpPr>
          <p:cNvPr id="33" name="Oval 32"/>
          <p:cNvSpPr/>
          <p:nvPr/>
        </p:nvSpPr>
        <p:spPr>
          <a:xfrm>
            <a:off x="8549640" y="414223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405079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برنامج ولاء + شراكات عيادات/مستشفيات</a:t>
            </a:r>
          </a:p>
        </p:txBody>
      </p:sp>
      <p:sp>
        <p:nvSpPr>
          <p:cNvPr id="35" name="Oval 34"/>
          <p:cNvSpPr/>
          <p:nvPr/>
        </p:nvSpPr>
        <p:spPr>
          <a:xfrm>
            <a:off x="8549640" y="5010912"/>
            <a:ext cx="182880" cy="18288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4919472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5000"/>
              </a:lnSpc>
            </a:pPr>
            <a:r>
              <a:rPr sz="1350" b="0">
                <a:solidFill>
                  <a:srgbClr val="505A6A"/>
                </a:solidFill>
                <a:latin typeface="Segoe UI"/>
              </a:rPr>
              <a:t>ربحية الوحدة (Unit Economics)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Budget  •  فرضيات تخطيطية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الميزانية — سيناريوهات تقريبية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600" b="1">
                <a:solidFill>
                  <a:srgbClr val="0B2545"/>
                </a:solidFill>
                <a:latin typeface="Segoe UI"/>
              </a:rPr>
              <a:t>توزيع الإنفاق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محتوى + بصرية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80515" y="2642616"/>
            <a:ext cx="1672045" cy="14630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58775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986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إعلانات أداء (ميتا/تيك توك/إنستا)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9544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6557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تحفيز (أول أمر/إحالة/ولاء)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8526" y="3776472"/>
            <a:ext cx="1254034" cy="14630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2160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32504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فريق B2B ميداني + عرض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8526" y="4343400"/>
            <a:ext cx="1254034" cy="14630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8853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15%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9943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توظيف سائقين + تحفيز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6538" y="4910328"/>
            <a:ext cx="836022" cy="14630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5546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6636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أدوات/قياس/تسويق رقمي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4549" y="5477256"/>
            <a:ext cx="418011" cy="14630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42239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7C7B"/>
                </a:solidFill>
                <a:latin typeface="Segoe UI"/>
              </a:rPr>
              <a:t>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828800"/>
            <a:ext cx="5669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828800"/>
            <a:ext cx="5669280" cy="6400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93852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سيناريو بوتستراب (ميزانية محدودة)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65176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إحالة + واتساب + محتوى + ASO + شراكات — بهدف الإثبات فقط؛ مدفوعٌ محدود جداً.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5669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31920"/>
            <a:ext cx="5669280" cy="640080"/>
          </a:xfrm>
          <a:prstGeom prst="rect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416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سيناريو النمو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8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30000"/>
              </a:lnSpc>
            </a:pPr>
            <a:r>
              <a:rPr sz="1300" b="0">
                <a:solidFill>
                  <a:srgbClr val="505A6A"/>
                </a:solidFill>
                <a:latin typeface="Segoe UI"/>
              </a:rPr>
              <a:t>تصعيد TikTok/Instagram + ظهور iOS + شراكات عيادات + توسّع محوّلي بعد تحقيق بوابات المرحلة.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08076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5535995272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00" b="1">
                <a:solidFill>
                  <a:srgbClr val="E0A458"/>
                </a:solidFill>
                <a:latin typeface="Segoe UI"/>
              </a:rPr>
              <a:t>القاعدة الذهبية: </a:t>
            </a:r>
            <a:r>
              <a:rPr sz="1400" b="1">
                <a:solidFill>
                  <a:srgbClr val="FFFFFF"/>
                </a:solidFill>
                <a:latin typeface="Segoe UI"/>
              </a:rPr>
              <a:t>لا تتجاوز الإنفاق المدفوع قبل أن يتحقّق CAC ≤ LTV ونِسبة التوفّر ≥ الهدف — الإنفاق يتبع الأداء لا العكس.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300" b="1">
                <a:solidFill>
                  <a:srgbClr val="E0A458"/>
                </a:solidFill>
                <a:latin typeface="Segoe UI"/>
              </a:rP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2900" b="1">
                <a:solidFill>
                  <a:srgbClr val="0B2545"/>
                </a:solidFill>
                <a:latin typeface="Segoe UI"/>
              </a:rPr>
              <a:t>إدارة المخاطر والامتثال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914400" cy="502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ازدحام جغرافي (سيولة ضعيفة)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الكثافة أولاً؛ رصد Fill Rate باستمرار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830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8308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قانوني / تنظيمي (أدوية)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استشارة قانونية وصيدلانية؛ توثيق؛ بلا ادّعاءات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8308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9659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الادّعاءات الصحية / النصائح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517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مراجعة قبل النشر؛ منع الجرعات والاستبدالات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6616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490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الخصوصية والوصفات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تشفير، تقليل البيانات، سياسة، موافقة، مسؤول حماية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6616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56616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37490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جودة التسليم / تخلّف COD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43484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رمز استلام، توثيق، مكافأة سائق، إدارة الغياب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66160"/>
            <a:ext cx="35661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566160"/>
            <a:ext cx="128016" cy="164592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374904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1450" b="1">
                <a:solidFill>
                  <a:srgbClr val="0B2545"/>
                </a:solidFill>
                <a:latin typeface="Segoe UI"/>
              </a:rPr>
              <a:t>التبنّي الرقمي المنخفض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43484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20000"/>
              </a:lnSpc>
            </a:pPr>
            <a:r>
              <a:rPr sz="1250" b="0">
                <a:solidFill>
                  <a:srgbClr val="505A6A"/>
                </a:solidFill>
                <a:latin typeface="Segoe UI"/>
              </a:rPr>
              <a:t>تعليم + ثقة + إتاحة الأمر عبر واتساب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0527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450" b="1">
                <a:solidFill>
                  <a:srgbClr val="E0A458"/>
                </a:solidFill>
                <a:latin typeface="Segoe UI"/>
              </a:rPr>
              <a:t>بوابات الإطلاق: </a:t>
            </a:r>
            <a:r>
              <a:rPr sz="1400" b="0">
                <a:solidFill>
                  <a:srgbClr val="FFFFFF"/>
                </a:solidFill>
                <a:latin typeface="Segoe UI"/>
              </a:rPr>
              <a:t>تتبّع كامل  •  توفّرٌ فعلي في النطاق  •  مراجعة صيدلانية/قانونية/ناطق  •  CAC ≤ LTV قبل أي حملة واسعة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4206240"/>
            <a:ext cx="2377440" cy="2377440"/>
          </a:xfrm>
          <a:prstGeom prst="ellipse">
            <a:avLst/>
          </a:prstGeom>
          <a:solidFill>
            <a:srgbClr val="0A5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المعركة معركة ثقة، لا معركة أسعار.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200400" cy="9144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45000"/>
              </a:lnSpc>
            </a:pPr>
            <a:r>
              <a:rPr sz="1900" b="0">
                <a:solidFill>
                  <a:srgbClr val="C8E0DF"/>
                </a:solidFill>
                <a:latin typeface="Segoe UI"/>
              </a:rPr>
              <a:t>قِس أولاً، ثم اكسب السيولة في نطاقٍ واحد، ثم قدّم نفسك «القناة القانونية المعتمدة» التي تُنقذ العراقي من فوضى الصفحات غير الموثوقة — وابنِ محرّك نموّ مستداماً: إحالة + واتساب + محتوى + ASO + شراكات.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700" b="1">
                <a:solidFill>
                  <a:srgbClr val="E0A458"/>
                </a:solidFill>
                <a:latin typeface="Segoe UI"/>
              </a:rPr>
              <a:t>نبدأ من أول ٣٠ يوماً:  </a:t>
            </a:r>
            <a:r>
              <a:rPr sz="1700" b="0">
                <a:solidFill>
                  <a:srgbClr val="FFFFFF"/>
                </a:solidFill>
                <a:latin typeface="Segoe UI"/>
              </a:rPr>
              <a:t>قياس  →  سيولة  →  ثقة  →  نموّ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800" b="1">
                <a:solidFill>
                  <a:srgbClr val="E0A458"/>
                </a:solidFill>
                <a:latin typeface="Segoe UI"/>
              </a:rPr>
              <a:t>صِـلَة دوائي  •  </a:t>
            </a:r>
            <a:r>
              <a:rPr sz="1800" b="0">
                <a:solidFill>
                  <a:srgbClr val="FFFFFF"/>
                </a:solidFill>
                <a:latin typeface="Segoe UI"/>
              </a:rPr>
              <a:t>دواؤك… يصلك من صيدلية مرخّصة قريبة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 bidi="1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صِلَة دوائي — الاستراتيجية التسويقية الشاملة  |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484"/>
                </a:solidFill>
                <a:latin typeface="Segoe UI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